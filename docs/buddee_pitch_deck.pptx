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51F2706-BCEC-4B09-BBF1-DE0E0EB459E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yourself. 90-second framing: the problem is $82k/physician/year in missed revenue. The solution is a shadow-mode AI auditor with a hash-chained audit trail. Pre-pilot. Looking for investors and design partners.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707DF7-460B-4A48-BEF7-990CDF539C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Market stats from CMS HCC model + industry studies. The $82k is modeled (CMS RAF × 4.2% capture lift × avg MA PMPM) — cite as modeled, not measured.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2E9A2E-2177-4329-93D2-B471E72C71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framing: Buddee is decision support, not a billing engine. Nothing auto-submits. Clinician owns every approval. This is structural — it's not a settings checkbox.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74E8FC-3AD6-4FB2-B023-401FC65571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Lead with: 'The moat is not the LLM. Anyone can wire Claude to a chart.' Then walk through the three moats. Emphasize: OIG has been explicit that AI CDS tools need an audit trail. We built that as the first deliverable.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2B9F62-3DBE-448E-BBF4-C491FFA15B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$300/physician/month × 200k physicians = $720M TAM. We're not going after all of them. Year 1 is 10–75 physician primary care groups with risk-bearing MA contracts. Hospital systems = year two.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DFDD5-EEFF-4618-A80D-E3048CBF9F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Pricing is gain-share OR floor — whichever is greater. In practice the floor protects us early; gain-share dominates once recovery is running. Numbers in the example are modeled.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2A5B63-53E0-466A-A2CC-DBE4CBFA3A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shows investors you've read your own product honestly. The 'SHIPPED' column is grounded in code. The 'PENDING' column is real founder actions — not vaporware roadmap. The BAA gap is the #1 risk.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EFCBC3-99E4-453A-A9A2-6490C0960D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3M/Iodine/CodaMetrix are inpatient CAC tools. Different workflow, different buyer. Optum HCC is bundled in $2M+ analytics suites. We're the only outpatient shadow-mode auditor with a signed audit chain at a SaaS price.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C8F7F-96A3-47D3-BE70-C6A840561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Five milestones to first revenue. ①②③ are Sprint A (Weeks 1–4, in flight). ④ is Jul 27 YC deadline. ⑤ is the case study that unlocks outbound at scale.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2C6A23-D0FE-4767-8444-B6A2D6AFAB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Solo founder is the biggest structural risk — acknowledge it directly. The clinical advisor is Hire 1 because their credibility unlocks design-partner introductions and makes the product defensible. Engineer is Hire 2 only after pilots justify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6F2F72-6256-4583-A2EE-1DA9A22F1B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investors you've read your own risk register. The BAA gap is known and budgeted. FCA exposure is structurally mitigated. Solo-founder risk is real — acknowledge it, explain the mitigation, move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24E97D-1E1C-48AF-9B63-DC6C6BB072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with: 'The ask is simple. If you believe the problem is real and the audit-chain moat is real, I'd like to talk about [amount] on a SAFE.' Offer to share the technical manual — PRODUCT_TRUTH.md. It names every gap between the marketing and the code. That's the kind of company this 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D15993-507B-4A29-BDEB-860AEB58DD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669280" y="-274320"/>
            <a:ext cx="4114440" cy="5943240"/>
          </a:xfrm>
          <a:prstGeom prst="roundRect">
            <a:avLst>
              <a:gd name="adj" fmla="val 8889"/>
            </a:avLst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858000" y="457200"/>
            <a:ext cx="2742840" cy="4114440"/>
          </a:xfrm>
          <a:prstGeom prst="roundRect">
            <a:avLst>
              <a:gd name="adj" fmla="val 13333"/>
            </a:avLst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68580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buddee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118872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799" strike="noStrike">
                <a:solidFill>
                  <a:srgbClr val="14AEAB"/>
                </a:solidFill>
                <a:effectLst/>
                <a:uFillTx/>
                <a:latin typeface="Calibri"/>
                <a:ea typeface="Calibri"/>
              </a:rPr>
              <a:t>health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640080" y="1783080"/>
            <a:ext cx="2743200" cy="360"/>
          </a:xfrm>
          <a:prstGeom prst="line">
            <a:avLst/>
          </a:prstGeom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40080" y="1965960"/>
            <a:ext cx="74977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Stop Writing Off Revenue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You Already Earned.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384048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AI-native, shadow-mode auditor for healthcare revenue cycle.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Pre-pilot · YC Fall 2026 · June 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40080" y="466344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Zhao, Founder &amp; CEO  ·  zhuzhaobang70@gmail.com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548640" y="27432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The Problem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48640" y="685800"/>
            <a:ext cx="8046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Physicians lose $82,000/year to missed diagnosis codes.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502920" y="1508760"/>
            <a:ext cx="2697120" cy="2514240"/>
          </a:xfrm>
          <a:prstGeom prst="roundRect">
            <a:avLst>
              <a:gd name="adj" fmla="val 4364"/>
            </a:avLst>
          </a:prstGeom>
          <a:solidFill>
            <a:srgbClr val="F7FAFA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612720" y="1664280"/>
            <a:ext cx="2486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D7377"/>
                </a:solidFill>
                <a:effectLst/>
                <a:uFillTx/>
                <a:latin typeface="Cambria"/>
                <a:ea typeface="Cambria"/>
              </a:rPr>
              <a:t>60%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667440" y="245052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of billable HCC diagnoses captured by manual coders — 40% left on the table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3337560" y="1508760"/>
            <a:ext cx="2697120" cy="2514240"/>
          </a:xfrm>
          <a:prstGeom prst="roundRect">
            <a:avLst>
              <a:gd name="adj" fmla="val 4364"/>
            </a:avLst>
          </a:prstGeom>
          <a:solidFill>
            <a:srgbClr val="F7FAFA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3447360" y="1664280"/>
            <a:ext cx="2486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D7377"/>
                </a:solidFill>
                <a:effectLst/>
                <a:uFillTx/>
                <a:latin typeface="Cambria"/>
                <a:ea typeface="Cambria"/>
              </a:rPr>
              <a:t>6.3 days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3502080" y="245052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average delay on prior authorization requests per physician office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6172200" y="1508760"/>
            <a:ext cx="2697120" cy="2514240"/>
          </a:xfrm>
          <a:prstGeom prst="roundRect">
            <a:avLst>
              <a:gd name="adj" fmla="val 4364"/>
            </a:avLst>
          </a:prstGeom>
          <a:solidFill>
            <a:srgbClr val="F7FAFA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6282000" y="1664280"/>
            <a:ext cx="2486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D7377"/>
                </a:solidFill>
                <a:effectLst/>
                <a:uFillTx/>
                <a:latin typeface="Cambria"/>
                <a:ea typeface="Cambria"/>
              </a:rPr>
              <a:t>18 mos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6336720" y="245052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average time CMS takes to resolve a recoupment audit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548640" y="420624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Root cause: unstructured clinical notes + weekly payer rule changes + no AI audit trail.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48640" y="27432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The Solution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548640" y="685800"/>
            <a:ext cx="8046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Buddee: shadow-mode AI that reads the chart,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never touches the claim.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502920" y="1874520"/>
            <a:ext cx="51202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640080" y="2039040"/>
            <a:ext cx="383760" cy="383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640080" y="2039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1143000" y="19476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HCC Gap Detection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1143000" y="225864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Reads FHIR R4 bundles, surfaces missed HCC codes with confidence scores + verbatim chart evidence quotes.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7"/>
          <p:cNvSpPr/>
          <p:nvPr/>
        </p:nvSpPr>
        <p:spPr>
          <a:xfrm>
            <a:off x="502920" y="2807280"/>
            <a:ext cx="51202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640080" y="2971800"/>
            <a:ext cx="383760" cy="383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640080" y="2971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1143000" y="28803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Prior-Auth Drafts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1143000" y="31914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Generates payer-ready prior-auth letters grounded in CMS LCD guidelines — draft only, clinician submits.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2"/>
          <p:cNvSpPr/>
          <p:nvPr/>
        </p:nvSpPr>
        <p:spPr>
          <a:xfrm>
            <a:off x="502920" y="3740040"/>
            <a:ext cx="512028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640080" y="3904560"/>
            <a:ext cx="383760" cy="3837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640080" y="3904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1143000" y="38131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Signed Audit Chain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1143000" y="412380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Every suggestion, approval, and abstention written to a SHA-256 hash-chained, KMS-signed Merkle-rooted log.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7"/>
          <p:cNvSpPr/>
          <p:nvPr/>
        </p:nvSpPr>
        <p:spPr>
          <a:xfrm>
            <a:off x="5852160" y="1828800"/>
            <a:ext cx="2834280" cy="2697120"/>
          </a:xfrm>
          <a:prstGeom prst="roundRect">
            <a:avLst>
              <a:gd name="adj" fmla="val 4746"/>
            </a:avLst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5989320" y="19659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Safety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Promise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5989320" y="2743200"/>
            <a:ext cx="2605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✓  AI advises — clinician decides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5989320" y="3090600"/>
            <a:ext cx="2605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✓  Nothing auto-submits to a payer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5989320" y="3438000"/>
            <a:ext cx="2605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✓  Every abstention is logged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5989320" y="3785760"/>
            <a:ext cx="2605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✓  Confidence floor: 0.70 abstain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48640" y="2743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AEAB"/>
                </a:solidFill>
                <a:effectLst/>
                <a:uFillTx/>
                <a:latin typeface="Calibri"/>
                <a:ea typeface="Calibri"/>
              </a:rPr>
              <a:t>The Moat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548640" y="65844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Anyone can wire an LLM to a medical chart.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548640" y="111564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02C39A"/>
                </a:solidFill>
                <a:effectLst/>
                <a:uFillTx/>
                <a:latin typeface="Cambria"/>
                <a:ea typeface="Cambria"/>
              </a:rPr>
              <a:t>Almost no one will do what comes next.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457200" y="1920240"/>
            <a:ext cx="2697120" cy="2742840"/>
          </a:xfrm>
          <a:prstGeom prst="roundRect">
            <a:avLst>
              <a:gd name="adj" fmla="val 4746"/>
            </a:avLst>
          </a:prstGeom>
          <a:solidFill>
            <a:srgbClr val="0F2340"/>
          </a:solidFill>
          <a:ln w="12700">
            <a:solidFill>
              <a:srgbClr val="0D737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621720" y="20574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D7377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621720" y="25146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Audit Chain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621720" y="2999160"/>
            <a:ext cx="23954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SHA-256 hash-chained audit_events table · daily Merkle root signed by Cloud KMS (GCP/AWS) · mirrored to GCS Object Lock (WORM). Append-only even under full DB compromise. Hand this to an OIG auditor today.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3337560" y="1920240"/>
            <a:ext cx="2697120" cy="2742840"/>
          </a:xfrm>
          <a:prstGeom prst="roundRect">
            <a:avLst>
              <a:gd name="adj" fmla="val 4746"/>
            </a:avLst>
          </a:prstGeom>
          <a:solidFill>
            <a:srgbClr val="0F2340"/>
          </a:solidFill>
          <a:ln w="12700">
            <a:solidFill>
              <a:srgbClr val="0D737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502080" y="20574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D7377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3502080" y="25146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Shadow Mode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3502080" y="2999160"/>
            <a:ext cx="23954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No API route auto-submits to a payer. The structural constraint is enforced in code — not policy. The moat is that removing it requires founder sign-off.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6217920" y="1920240"/>
            <a:ext cx="2697120" cy="2742840"/>
          </a:xfrm>
          <a:prstGeom prst="roundRect">
            <a:avLst>
              <a:gd name="adj" fmla="val 4746"/>
            </a:avLst>
          </a:prstGeom>
          <a:solidFill>
            <a:srgbClr val="0F2340"/>
          </a:solidFill>
          <a:ln w="12700">
            <a:solidFill>
              <a:srgbClr val="0D737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6382440" y="20574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D7377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6382440" y="25146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Confidence Floor + Judge Pass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6382440" y="2999160"/>
            <a:ext cx="23954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Below 0.70 → abstain. Between 0.70–0.85 → second LLM independently verifies chart evidence. A suggestion surfaces only if both models agree. Approval rate is signal, not noise.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48640" y="2743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Market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548640" y="68580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$720M ARR from the primary ICP alone.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3383280" y="1417320"/>
            <a:ext cx="2377080" cy="2377080"/>
          </a:xfrm>
          <a:prstGeom prst="ellipse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3703320" y="1737360"/>
            <a:ext cx="1737000" cy="1737000"/>
          </a:xfrm>
          <a:prstGeom prst="ellipse">
            <a:avLst/>
          </a:prstGeom>
          <a:solidFill>
            <a:srgbClr val="0A7C79">
              <a:alpha val="40000"/>
            </a:srgbClr>
          </a:solidFill>
          <a:ln w="12700">
            <a:solidFill>
              <a:srgbClr val="0A7C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4005000" y="2039040"/>
            <a:ext cx="1133640" cy="1133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6217920" y="15544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7269480" y="155448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$720M ARR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~200k physicians · $300/mo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6217920" y="23317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7269480" y="233172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$216M ARR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~60k risk-bearing physicians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6217920" y="29260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7269480" y="292608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Year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10–75 physician groups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548640" y="15087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Primary ICP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548640" y="1874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 Risk-bearing primary care groups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548640" y="21488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 10–75 physicians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548640" y="24231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 ≥30% Medicare Advantage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548640" y="26974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 30-day sales cycle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548640" y="30632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Secondary ICP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7"/>
          <p:cNvSpPr/>
          <p:nvPr/>
        </p:nvSpPr>
        <p:spPr>
          <a:xfrm>
            <a:off x="548640" y="338328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Independent billing &amp; coding services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5–50 employees · one sale = many groups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8"/>
          <p:cNvSpPr/>
          <p:nvPr/>
        </p:nvSpPr>
        <p:spPr>
          <a:xfrm>
            <a:off x="548640" y="44805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Anti-ICP: Hospital systems (18–24mo cycles, deferred to v2.0)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48640" y="2743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Business Model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48640" y="68580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Gain-share aligned to physician P&amp;L.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502920" y="1463040"/>
            <a:ext cx="4023000" cy="32000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731520" y="164592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Gain-Share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731520" y="201168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15–20%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731520" y="272484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of recovered revenue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validated within 90 days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731520" y="3310200"/>
            <a:ext cx="3565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Aligns Buddee's incentive to your P&amp;L.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If we surface noise you reject, we don't get paid.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4892040" y="1463040"/>
            <a:ext cx="4023000" cy="32000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5120640" y="164592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Floor Fee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5120640" y="201168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$250–400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5120640" y="272484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per physician / month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(whichever is greater)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5120640" y="3310200"/>
            <a:ext cx="3565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Provides revenue floor when recovery is being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established in the first months.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502920" y="463608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Example: 20 physicians · 35% MA mix · 4.2% HCC lift  -&gt;  ~$115k recovered/yr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502920" y="486468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-&gt;  ~$23k Buddee gain-share + $72k floor fee  =  ~$95k ARR per group  (modeled)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548640" y="2743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Product State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48640" y="6858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Pre-pilot. Technically credible. Honest about the gaps.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502920" y="1417320"/>
            <a:ext cx="4023000" cy="2742840"/>
          </a:xfrm>
          <a:prstGeom prst="roundRect">
            <a:avLst>
              <a:gd name="adj" fmla="val 4000"/>
            </a:avLst>
          </a:prstGeom>
          <a:solidFill>
            <a:srgbClr val="F0FDF9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685800" y="1554480"/>
            <a:ext cx="3657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SHIPPED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685800" y="192024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FastAPI v4.1 backend · RLS on all 6 PHI tables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685800" y="217620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Shadow-mode HCC path · confidence floor 0.70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685800" y="243216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LLM-as-judge second pass (0.70–0.85 band)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685800" y="268848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Hash-chained audit_events + daily Merkle root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685800" y="294444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FHIR R4 ingest with BAA precondition guard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685800" y="320040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25 Synthea synthetic bundles · hosted 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685800" y="345636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Eval CI gate (100-encounter golden set)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685800" y="371232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OTel tracing · SMART-on-FHIR launch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4754880" y="1417320"/>
            <a:ext cx="4023000" cy="2742840"/>
          </a:xfrm>
          <a:prstGeom prst="roundRect">
            <a:avLst>
              <a:gd name="adj" fmla="val 4000"/>
            </a:avLst>
          </a:prstGeom>
          <a:solidFill>
            <a:srgbClr val="FFF9F0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4937760" y="1554480"/>
            <a:ext cx="3657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PENDING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4937760" y="192024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Anthropic + OpenAI + GCP BAAs (founder action)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4937760" y="217620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Cloud KMS key + Object Lock bucket provisioned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4937760" y="243216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Clinical advisor hired (board-certified internist)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4937760" y="268848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First design-partner LOI signed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4937760" y="294444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HIPAA risk assessment (posture only today)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4937760" y="320040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SOC 2 Type I (in-readiness posture)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4937760" y="3456360"/>
            <a:ext cx="3702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·  Epic / Cerner SMART app registration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502920" y="42976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Defensible today: 100% audit-chain verify rate in CI · 25 synthetic bundles · 31 API routes · eval seed precision 1.0 (10-case wiring test)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48640" y="2743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Competition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548640" y="685800"/>
            <a:ext cx="8046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The outpatient HCC shadow-mode auditor with 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signed audit trail doesn't exist yet.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5" name="Table 0"/>
          <p:cNvGraphicFramePr/>
          <p:nvPr/>
        </p:nvGraphicFramePr>
        <p:xfrm>
          <a:off x="502920" y="1691640"/>
          <a:ext cx="8229240" cy="285264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280160"/>
                <a:gridCol w="1143000"/>
                <a:gridCol w="1508760"/>
                <a:gridCol w="1280160"/>
              </a:tblGrid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Company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Inpatient CAC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Outpatient HCC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Shadow Mode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Signed Audit Trail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≤$500/Dr/Mo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A1628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3M 360 Encompass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273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Iodine Software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273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CodaMetrix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273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Partial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Optum HCC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273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B91C1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❌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buddee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273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273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273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8F4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273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8F4F3"/>
                    </a:solidFill>
                  </a:tcPr>
                </a:tc>
              </a:tr>
            </a:tbl>
          </a:graphicData>
        </a:graphic>
      </p:graphicFrame>
      <p:sp>
        <p:nvSpPr>
          <p:cNvPr id="126" name="Text 2"/>
          <p:cNvSpPr/>
          <p:nvPr/>
        </p:nvSpPr>
        <p:spPr>
          <a:xfrm>
            <a:off x="502920" y="4663440"/>
            <a:ext cx="8320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Moat: compliance officers need a signed, OIG-defensible audit artifact. No incumbent will rebuild their data model for 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2743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Traction &amp; Milestones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48640" y="6858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Five milestones to YC and first revenue.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548640" y="2148840"/>
            <a:ext cx="8046360" cy="543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1092600" y="2039040"/>
            <a:ext cx="219240" cy="219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457200" y="15728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D7377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457200" y="2395800"/>
            <a:ext cx="1508400" cy="2377080"/>
          </a:xfrm>
          <a:prstGeom prst="roundRect">
            <a:avLst>
              <a:gd name="adj" fmla="val 6061"/>
            </a:avLst>
          </a:prstGeom>
          <a:solidFill>
            <a:srgbClr val="F0FDF9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548640" y="251460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Audit Chain Live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548640" y="2926080"/>
            <a:ext cx="1325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KMS-signed Merkle root writing to GCS Object Lock. Code path done; provisioning pending.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2775240" y="2039040"/>
            <a:ext cx="219240" cy="219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2139840" y="15728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D7377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2139840" y="2395800"/>
            <a:ext cx="1508400" cy="2377080"/>
          </a:xfrm>
          <a:prstGeom prst="roundRect">
            <a:avLst>
              <a:gd name="adj" fmla="val 6061"/>
            </a:avLst>
          </a:prstGeom>
          <a:solidFill>
            <a:srgbClr val="F0FDF9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2231280" y="251460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BAAs In Place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2231280" y="2926080"/>
            <a:ext cx="1325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Anthropic + OpenAI + GCP BAAs signed. PHI can flow.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4457880" y="2039040"/>
            <a:ext cx="219240" cy="219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3822120" y="15728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D7377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3822120" y="2395800"/>
            <a:ext cx="1508400" cy="2377080"/>
          </a:xfrm>
          <a:prstGeom prst="roundRect">
            <a:avLst>
              <a:gd name="adj" fmla="val 6061"/>
            </a:avLst>
          </a:prstGeom>
          <a:solidFill>
            <a:srgbClr val="F0FDF9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3913560" y="251460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Demo &lt;30s p95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3913560" y="2926080"/>
            <a:ext cx="1325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Shadow audit under 30s p95 on demo patient. HNSW index live.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8"/>
          <p:cNvSpPr/>
          <p:nvPr/>
        </p:nvSpPr>
        <p:spPr>
          <a:xfrm>
            <a:off x="6140160" y="2039040"/>
            <a:ext cx="219240" cy="21924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5504760" y="15728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BD5E1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0"/>
          <p:cNvSpPr/>
          <p:nvPr/>
        </p:nvSpPr>
        <p:spPr>
          <a:xfrm>
            <a:off x="5504760" y="2395800"/>
            <a:ext cx="1508400" cy="2377080"/>
          </a:xfrm>
          <a:prstGeom prst="roundRect">
            <a:avLst>
              <a:gd name="adj" fmla="val 6061"/>
            </a:avLst>
          </a:prstGeom>
          <a:solidFill>
            <a:srgbClr val="F7FA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1"/>
          <p:cNvSpPr/>
          <p:nvPr/>
        </p:nvSpPr>
        <p:spPr>
          <a:xfrm>
            <a:off x="5596200" y="251460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YC Submitted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5596200" y="2926080"/>
            <a:ext cx="1325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YC Fall 2026 application submitted by Jul 27.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3"/>
          <p:cNvSpPr/>
          <p:nvPr/>
        </p:nvSpPr>
        <p:spPr>
          <a:xfrm>
            <a:off x="7822800" y="2039040"/>
            <a:ext cx="219240" cy="21924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7187040" y="157284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BD5E1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5"/>
          <p:cNvSpPr/>
          <p:nvPr/>
        </p:nvSpPr>
        <p:spPr>
          <a:xfrm>
            <a:off x="7187040" y="2395800"/>
            <a:ext cx="1508400" cy="2377080"/>
          </a:xfrm>
          <a:prstGeom prst="roundRect">
            <a:avLst>
              <a:gd name="adj" fmla="val 6061"/>
            </a:avLst>
          </a:prstGeom>
          <a:solidFill>
            <a:srgbClr val="F7FAFA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7278480" y="251460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Case Study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7"/>
          <p:cNvSpPr/>
          <p:nvPr/>
        </p:nvSpPr>
        <p:spPr>
          <a:xfrm>
            <a:off x="7278480" y="2926080"/>
            <a:ext cx="13255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90-day design-partner case study with real recovery numbers.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548640" y="2743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AEAB"/>
                </a:solidFill>
                <a:effectLst/>
                <a:uFillTx/>
                <a:latin typeface="Calibri"/>
                <a:ea typeface="Calibri"/>
              </a:rPr>
              <a:t>Team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548640" y="6858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Solo founder. Every line of this product is mine.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502920" y="1417320"/>
            <a:ext cx="3840120" cy="3337200"/>
          </a:xfrm>
          <a:prstGeom prst="roundRect">
            <a:avLst>
              <a:gd name="adj" fmla="val 3836"/>
            </a:avLst>
          </a:prstGeom>
          <a:solidFill>
            <a:srgbClr val="0F2340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731520" y="160020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Zhao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731520" y="21031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4AEAB"/>
                </a:solidFill>
                <a:effectLst/>
                <a:uFillTx/>
                <a:latin typeface="Calibri"/>
                <a:ea typeface="Calibri"/>
              </a:rPr>
              <a:t>Founder · CEO · CTO · COO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731520" y="256032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·  Sole author: 31-route FastAPI backend, 16-table schema, hash-chained audit system, FHIR ingest, eval harness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731520" y="310896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·  Active YC Fall 2026 applicant · deadline Jul 27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731520" y="365760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·  Accelerators in view: a16z Speedrun, Rock Health, PearX, South Park Commons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4572000" y="1417320"/>
            <a:ext cx="4251600" cy="3337200"/>
          </a:xfrm>
          <a:prstGeom prst="roundRect">
            <a:avLst>
              <a:gd name="adj" fmla="val 3836"/>
            </a:avLst>
          </a:prstGeom>
          <a:solidFill>
            <a:srgbClr val="0F2340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4754880" y="160020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Hiring Plan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4754880" y="20574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Hire 1: Clinical Advisor (part-time)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4754880" y="237744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Board-certified internist, HCC coding fluency, RADV experience. Their name goes on the product. Month 1.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4754880" y="29718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Hire 2: Lead Full-Stack Engineer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4754880" y="329184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Month 4, after first pilot is live and measurable.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4754880" y="38862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Hire 3: Founding RCM Marketer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4754880" y="420624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Month 6, only after first case study exists. Not before.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548640" y="2743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Risks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548640" y="6858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93B"/>
                </a:solidFill>
                <a:effectLst/>
                <a:uFillTx/>
                <a:latin typeface="Cambria"/>
                <a:ea typeface="Cambria"/>
              </a:rPr>
              <a:t>Three existential risks. All known. All mitigated or in flight.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502920" y="1325880"/>
            <a:ext cx="8320680" cy="914040"/>
          </a:xfrm>
          <a:prstGeom prst="roundRect">
            <a:avLst>
              <a:gd name="adj" fmla="val 10000"/>
            </a:avLst>
          </a:prstGeom>
          <a:solidFill>
            <a:srgbClr val="F7FAFA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621720" y="1454040"/>
            <a:ext cx="822600" cy="2739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621720" y="14540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HIGH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1572840" y="141732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HIPAA BAA Gap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1572840" y="1710000"/>
            <a:ext cx="7086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Mitigation: Runtime guard: system refuses real PHI until BUDDI_BAA_CONFIRMED=1. Paperwork with Anthropic, OpenAI, GCP is the first use of this round. Code path ready; founder action pending.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502920" y="2313360"/>
            <a:ext cx="8320680" cy="914040"/>
          </a:xfrm>
          <a:prstGeom prst="roundRect">
            <a:avLst>
              <a:gd name="adj" fmla="val 10000"/>
            </a:avLst>
          </a:prstGeom>
          <a:solidFill>
            <a:srgbClr val="F7FAFA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621720" y="2441520"/>
            <a:ext cx="822600" cy="2739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621720" y="244152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HIGH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1572840" y="240480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LLM Hallucination -&gt; FCA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1572840" y="2697480"/>
            <a:ext cx="7086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Mitigation: Shadow mode (nothing auto-submits), confidence floor (0.70 abstain), mandatory evidence quote, LLM-as-judge second pass, 100-encounter eval CI gate. FCA exposure lives at the auto-submit layer — Buddee never touches 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502920" y="3300840"/>
            <a:ext cx="8320680" cy="914040"/>
          </a:xfrm>
          <a:prstGeom prst="roundRect">
            <a:avLst>
              <a:gd name="adj" fmla="val 10000"/>
            </a:avLst>
          </a:prstGeom>
          <a:solidFill>
            <a:srgbClr val="F7FAFA"/>
          </a:solidFill>
          <a:ln w="12700">
            <a:solidFill>
              <a:srgbClr val="CBD5E1">
                <a:alpha val="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621720" y="3429000"/>
            <a:ext cx="822600" cy="2739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621720" y="34290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1572840" y="339228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Solo Founder Concentration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1572840" y="3684960"/>
            <a:ext cx="7086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Mitigation: Acknowledged. Clinical Advisor is Hire 1, not another engineer. Round size constrained to what one person can deploy. YC network provides mentorship redundancy.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548640" y="4407480"/>
            <a:ext cx="8229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0D7377"/>
                </a:solidFill>
                <a:effectLst/>
                <a:uFillTx/>
                <a:latin typeface="Calibri"/>
                <a:ea typeface="Calibri"/>
              </a:rPr>
              <a:t>Design principle: Buddee fails closed. Below 0.70 confidence the agent abstains. Nothing surfaces without a chart evidence quote. Nothing submits without clinician approval.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-457200" y="3200400"/>
            <a:ext cx="5943240" cy="2742840"/>
          </a:xfrm>
          <a:prstGeom prst="roundRect">
            <a:avLst>
              <a:gd name="adj" fmla="val 16667"/>
            </a:avLst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640080" y="2743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AEAB"/>
                </a:solidFill>
                <a:effectLst/>
                <a:uFillTx/>
                <a:latin typeface="Calibri"/>
                <a:ea typeface="Calibri"/>
              </a:rPr>
              <a:t>The Ask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640080" y="685800"/>
            <a:ext cx="8046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Seed Round · SAFE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502920" y="1463040"/>
            <a:ext cx="2651400" cy="2514240"/>
          </a:xfrm>
          <a:prstGeom prst="roundRect">
            <a:avLst>
              <a:gd name="adj" fmla="val 5091"/>
            </a:avLst>
          </a:prstGeom>
          <a:solidFill>
            <a:srgbClr val="0F2340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4"/>
          <p:cNvSpPr/>
          <p:nvPr/>
        </p:nvSpPr>
        <p:spPr>
          <a:xfrm>
            <a:off x="1508760" y="1627560"/>
            <a:ext cx="639720" cy="6397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1508760" y="16275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640080" y="23317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BAA Filing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640080" y="2743200"/>
            <a:ext cx="2377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Anthropic · OpenAI · GCP BAAs. Lawyer time + filing fees. Unlocks real PHI.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8"/>
          <p:cNvSpPr/>
          <p:nvPr/>
        </p:nvSpPr>
        <p:spPr>
          <a:xfrm>
            <a:off x="3337560" y="1463040"/>
            <a:ext cx="2651400" cy="2514240"/>
          </a:xfrm>
          <a:prstGeom prst="roundRect">
            <a:avLst>
              <a:gd name="adj" fmla="val 5091"/>
            </a:avLst>
          </a:prstGeom>
          <a:solidFill>
            <a:srgbClr val="0F2340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4343400" y="1627560"/>
            <a:ext cx="639720" cy="6397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0"/>
          <p:cNvSpPr/>
          <p:nvPr/>
        </p:nvSpPr>
        <p:spPr>
          <a:xfrm>
            <a:off x="4343400" y="16275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3474720" y="23317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Clinical Advisor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2"/>
          <p:cNvSpPr/>
          <p:nvPr/>
        </p:nvSpPr>
        <p:spPr>
          <a:xfrm>
            <a:off x="3474720" y="2743200"/>
            <a:ext cx="2377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Part-time board-certified internist. HCC coding fluency. RADV audit experience.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3"/>
          <p:cNvSpPr/>
          <p:nvPr/>
        </p:nvSpPr>
        <p:spPr>
          <a:xfrm>
            <a:off x="6172200" y="1463040"/>
            <a:ext cx="2651400" cy="2514240"/>
          </a:xfrm>
          <a:prstGeom prst="roundRect">
            <a:avLst>
              <a:gd name="adj" fmla="val 5091"/>
            </a:avLst>
          </a:prstGeom>
          <a:solidFill>
            <a:srgbClr val="0F2340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4"/>
          <p:cNvSpPr/>
          <p:nvPr/>
        </p:nvSpPr>
        <p:spPr>
          <a:xfrm>
            <a:off x="7178040" y="1627560"/>
            <a:ext cx="639720" cy="6397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5"/>
          <p:cNvSpPr/>
          <p:nvPr/>
        </p:nvSpPr>
        <p:spPr>
          <a:xfrm>
            <a:off x="7178040" y="16275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6"/>
          <p:cNvSpPr/>
          <p:nvPr/>
        </p:nvSpPr>
        <p:spPr>
          <a:xfrm>
            <a:off x="6309360" y="23317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 Partners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7"/>
          <p:cNvSpPr/>
          <p:nvPr/>
        </p:nvSpPr>
        <p:spPr>
          <a:xfrm>
            <a:off x="6309360" y="2743200"/>
            <a:ext cx="2377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Business development, travel, pilot incentives. First revenue by week 11.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8"/>
          <p:cNvSpPr/>
          <p:nvPr/>
        </p:nvSpPr>
        <p:spPr>
          <a:xfrm>
            <a:off x="548640" y="3913560"/>
            <a:ext cx="5028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This round gets us to: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9"/>
          <p:cNvSpPr/>
          <p:nvPr/>
        </p:nvSpPr>
        <p:spPr>
          <a:xfrm>
            <a:off x="548640" y="4178880"/>
            <a:ext cx="50288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-&gt;  First design-partner pilot live with real PHI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0"/>
          <p:cNvSpPr/>
          <p:nvPr/>
        </p:nvSpPr>
        <p:spPr>
          <a:xfrm>
            <a:off x="548640" y="4389120"/>
            <a:ext cx="50288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-&gt;  65%+ suggestion approval rate demonstrated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1"/>
          <p:cNvSpPr/>
          <p:nvPr/>
        </p:nvSpPr>
        <p:spPr>
          <a:xfrm>
            <a:off x="548640" y="4599360"/>
            <a:ext cx="50288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-&gt;  YC Fall 2026 — application by Jul 27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2"/>
          <p:cNvSpPr/>
          <p:nvPr/>
        </p:nvSpPr>
        <p:spPr>
          <a:xfrm>
            <a:off x="548640" y="4809600"/>
            <a:ext cx="50288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-&gt;  Signed case study for outbound at scale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3"/>
          <p:cNvSpPr/>
          <p:nvPr/>
        </p:nvSpPr>
        <p:spPr>
          <a:xfrm>
            <a:off x="5943600" y="3886200"/>
            <a:ext cx="2834280" cy="776880"/>
          </a:xfrm>
          <a:prstGeom prst="roundRect">
            <a:avLst>
              <a:gd name="adj" fmla="val 11765"/>
            </a:avLst>
          </a:prstGeom>
          <a:solidFill>
            <a:srgbClr val="0F2340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6035040" y="3986640"/>
            <a:ext cx="2651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4AEAB"/>
                </a:solidFill>
                <a:effectLst/>
                <a:uFillTx/>
                <a:latin typeface="Calibri"/>
                <a:ea typeface="Calibri"/>
              </a:rPr>
              <a:t>zhuzhaobang70@gmail.com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6035040" y="4251960"/>
            <a:ext cx="2651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demo.buddi.health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1308</TotalTime>
  <Application>LibreOffice/26.2.3.2$MacOSX_AARCH64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2026-06-23T05:35:21Z</dcterms:created>
  <dc:creator>Zhao, Buddee Health</dc:creator>
  <dc:description/>
  <dc:language>en-US</dc:language>
  <cp:lastModifiedBy/>
  <dcterms:modified xsi:type="dcterms:W3CDTF">2026-06-24T17:31:57Z</dcterms:modified>
  <cp:revision>3</cp:revision>
  <dc:subject>PptxGenJS Presentation</dc:subject>
  <dc:title>Buddee Health — Investor Pitch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